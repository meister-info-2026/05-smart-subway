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0" cy="384048"/>
          </a:xfrm>
          <a:prstGeom prst="roundRect">
            <a:avLst>
              <a:gd name="adj" fmla="val 50000"/>
            </a:avLst>
          </a:prstGeom>
          <a:solidFill>
            <a:srgbClr val="E7EF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지하철 혼잡도 분석 및 임산부석 안내 시스템 · 2차 개발 착수 브리핑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지하철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A3F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해부도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웹캠이 객차 안 사람 수를 세고, LED 색이 바뀌고, 임산부석이 비었는지까지 — 이 열차 모형이 주고받는 JSON 한 줄까지 그대로 열어봅니다.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1841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8DBC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343400"/>
            <a:ext cx="118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6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88820" y="4343400"/>
            <a:ext cx="11841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BFA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88820" y="4343400"/>
            <a:ext cx="118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4343400"/>
            <a:ext cx="9372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BCA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37560" y="4343400"/>
            <a:ext cx="937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9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9412" y="4343400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BBF8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39412" y="43434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YOLOv8n · OpenCV DNN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92924" y="4343400"/>
            <a:ext cx="204825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EA3A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92924" y="434340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Raspberry Pi 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완성본(Mock 하드웨어) 기준 · 2차 개발(라즈베리파이 5 실기기 연동 + 보안 점검) 착수 전 필독 자료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3152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시스템은 사실, 오감을 나눠 가진 팀입니다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눈으로 보고 · 뇌로 판단하고 · 손으로 움직이듯, 이 시스템도 5개 부품이 역할을 하나씩 나눠 맡습니다.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38042" y="2532888"/>
            <a:ext cx="640080" cy="640080"/>
          </a:xfrm>
          <a:prstGeom prst="ellipse">
            <a:avLst/>
          </a:prstGeom>
          <a:solidFill>
            <a:srgbClr val="2F86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38042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6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 · Next.js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1호차는 진짜, 2호차는 사실 장식이에요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58963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56925" y="2532888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56925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2968691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968691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 · FastAPI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005267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인원 수로 혼잡도를 즉시 판단해요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77846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75808" y="2532888"/>
            <a:ext cx="640080" cy="64008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75808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📓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5187574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9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187574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 · MySQL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224150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장치 4개의 상태와 이력을 적어요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296729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94691" y="2532888"/>
            <a:ext cx="640080" cy="640080"/>
          </a:xfrm>
          <a:prstGeom prst="ellipse">
            <a:avLst/>
          </a:prstGeom>
          <a:solidFill>
            <a:srgbClr val="DB8A1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94691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406457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406457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 · YOLOv8n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443033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수만 세요, 얼굴·자세는 안 봐요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515612" y="2331720"/>
            <a:ext cx="2036003" cy="3063240"/>
          </a:xfrm>
          <a:prstGeom prst="roundRect">
            <a:avLst>
              <a:gd name="adj" fmla="val 4491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13574" y="2532888"/>
            <a:ext cx="640080" cy="640080"/>
          </a:xfrm>
          <a:prstGeom prst="ellipse">
            <a:avLst/>
          </a:prstGeom>
          <a:solidFill>
            <a:srgbClr val="E0576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213574" y="2532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9625340" y="3291840"/>
            <a:ext cx="1816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625340" y="3630168"/>
            <a:ext cx="1816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Hardware · Pi 5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661916" y="3977640"/>
            <a:ext cx="17433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3색과 컨베이어를 움직여요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577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지금부터 한 명씩, 그리고 이들이 나누는 대화를 하나씩 살펴봅니다.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 MAP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누구에게 말을 거나요?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663440" y="1554480"/>
            <a:ext cx="24688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F86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6642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0116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관제 대시보드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3063240"/>
            <a:ext cx="24688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28575">
            <a:solidFill>
              <a:srgbClr val="8B5C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31729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52044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(router.py 한 장)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5074920"/>
            <a:ext cx="24688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F9E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5184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553212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B8A1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64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 클라이언트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61188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웹캠 PC · 독립 프로세스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869680" y="315468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0576B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8961120" y="3264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Raspberry Pi 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3611880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없음 · 2차 개발 시작점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97880" y="2240280"/>
            <a:ext cx="0" cy="82296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709160" y="242316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09160" y="2423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WebSocket + REST(JSON)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97880" y="3931920"/>
            <a:ext cx="0" cy="114300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headEnd type="triangl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709160" y="427482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09160" y="42748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/ 조회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3497580"/>
            <a:ext cx="1737360" cy="0"/>
          </a:xfrm>
          <a:prstGeom prst="line">
            <a:avLst/>
          </a:prstGeom>
          <a:noFill/>
          <a:ln w="25400">
            <a:solidFill>
              <a:srgbClr val="DB8A1D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017520" y="326898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017520" y="32689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vision/events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32320" y="3497580"/>
            <a:ext cx="1737360" cy="0"/>
          </a:xfrm>
          <a:prstGeom prst="line">
            <a:avLst/>
          </a:prstGeom>
          <a:noFill/>
          <a:ln w="25400">
            <a:solidFill>
              <a:srgbClr val="E0576B"/>
            </a:solidFill>
            <a:prstDash val="dash"/>
            <a:headEnd type="triangl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200900" y="3268980"/>
            <a:ext cx="1600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200900" y="32689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desired-state 계약(완성)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35508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팀들과 달리 이 팀은 라우터를 폴더로 나누지 않고, backend/iot/router.py 한 장에 IoT·비전 엔드포인트를 전부 모아뒀어요.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6F0FD"/>
          </a:solidFill>
          <a:ln w="12700">
            <a:solidFill>
              <a:srgbClr val="A1C9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F86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2F86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얼굴 — 1호차는 진짜, 2호차는 장식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· TypeScript · Tailwind CSS — TrainCarView.tsx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1호차(REAL-TIME): 실제 YOLO 인원수, 혼잡도 배지, LED 색상, 임산부석 상태 — 전부 실시간 장치 값과 연결돼 있어요.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2호차(STATIC PLACEHOLDER): '2명 · 여유 · 비어 있음' — 이 숫자는 백엔드 코드에 그대로 하드코딩된 장식용 데이터예요.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1363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2F86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2219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임산부석 카드에서 '착석 시뮬레이션/기립' 버튼으로 압력센서 값을 직접 흉내낼 수 있어요.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2103120"/>
            <a:ext cx="4602175" cy="1353312"/>
          </a:xfrm>
          <a:prstGeom prst="roundRect">
            <a:avLst>
              <a:gd name="adj" fmla="val 6081"/>
            </a:avLst>
          </a:prstGeom>
          <a:solidFill>
            <a:srgbClr val="1012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 /api/v1/train/status 응답 일부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50608" y="2523744"/>
            <a:ext cx="4199839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"next_car": { "car_number": 2,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2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"person_count": 2,  // 항상 고정값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"congestion_level": "여유" } 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1EBFE"/>
          </a:solidFill>
          <a:ln w="12700">
            <a:solidFill>
              <a:srgbClr val="CBB6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 — 인원 수 하나로 혼잡도를 결정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FastAPI · backend/iot/router.py 한 파일(prefix /api/v1) — trigger_service.py가 아예 없어요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혼잡도 판정이 라우터 함수 안에 바로 들어있어요 — receive_vision_event()가 count를 보고 즉시 결정해요.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기준값이 두 곳에 따로 적혀 있어요 — 백엔드와 vision/main.py가 각자 복사해서 갖고 있어요(둘 다 고쳐야 함).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2103120"/>
            <a:ext cx="4602175" cy="1353312"/>
          </a:xfrm>
          <a:prstGeom prst="roundRect">
            <a:avLst>
              <a:gd name="adj" fmla="val 6081"/>
            </a:avLst>
          </a:prstGeom>
          <a:solidFill>
            <a:srgbClr val="1012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혼잡도 판정 (두 파일에 중복)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150608" y="2523744"/>
            <a:ext cx="4199839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count &lt;= 2:   여유 / GREEN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4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count &lt;= 5: 보통 / ORANGE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            혼잡 / RED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F3F1"/>
          </a:solidFill>
          <a:ln w="12700">
            <a:solidFill>
              <a:srgbClr val="93D3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F9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📓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 — 임산부석은 원래 계획에 없었어요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— 4개 테이블: devices · sensor_readings · control_log · vision_events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2618156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240280"/>
            <a:ext cx="23987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led_congestion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551176"/>
            <a:ext cx="239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혼잡도 안내 LED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04540" y="2148840"/>
            <a:ext cx="2618156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14268" y="2240280"/>
            <a:ext cx="23987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motor_conveyor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514268" y="2551176"/>
            <a:ext cx="239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이동 컨베이어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69000" y="2148840"/>
            <a:ext cx="2618156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728" y="2240280"/>
            <a:ext cx="23987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cam_subway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278728" y="2551176"/>
            <a:ext cx="239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객차 Pi Camera 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933459" y="2148840"/>
            <a:ext cx="2618156" cy="749808"/>
          </a:xfrm>
          <a:prstGeom prst="roundRect">
            <a:avLst>
              <a:gd name="adj" fmla="val 8537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43187" y="2240280"/>
            <a:ext cx="23987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sensor_seat_pressure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043187" y="2551176"/>
            <a:ext cx="2398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임산부석 압력센서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3154680"/>
            <a:ext cx="10911535" cy="1024128"/>
          </a:xfrm>
          <a:prstGeom prst="roundRect">
            <a:avLst>
              <a:gd name="adj" fmla="val 7143"/>
            </a:avLst>
          </a:prstGeom>
          <a:solidFill>
            <a:srgbClr val="FAF2E7"/>
          </a:solidFill>
          <a:ln w="12700">
            <a:solidFill>
              <a:srgbClr val="E7C3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" y="3246120"/>
            <a:ext cx="1050919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7A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솔직 고백: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PRD가 직접 밝힌 사실: 임산부석 압력센서는 '사용자 추가 요구사항'이에요 — 원래 개발 계획서엔 없었는데 팀이 나중에 더한 기능이라고 PRD 자체에 적혀 있어요. 역 검색·방향 선택·ETA·컨베이어 시뮬레이션 API는 PRD에만 있고 실제 코드엔 없어요.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F1E4"/>
          </a:solidFill>
          <a:ln w="12700">
            <a:solidFill>
              <a:srgbClr val="EFCA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B8A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DB8A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👁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 — 사람 수만 세는 눈이에요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OpenCV DNN(cv2.dnn) + YOLOv8n(ONNX) — 'Zero-Dependency'를 표방, onnxruntime도 mediapipe도 없어요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COCO 클래스 0(사람)만 세요 — 누가 임산부인지, 무엇을 들고 있는지는 전혀 몰라요.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웹캠이 없으면 가상 객차 화면으로 전환돼요 — +/-로 승객 수를 최대 12명까지 직접 조절할 수 있어요.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1363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DB8A1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22192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인원수가 바뀌거나, 2.5초가 지나면 다시 한 번 보고해요(하트비트).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2103120"/>
            <a:ext cx="4602175" cy="1353312"/>
          </a:xfrm>
          <a:prstGeom prst="roundRect">
            <a:avLst>
              <a:gd name="adj" fmla="val 6081"/>
            </a:avLst>
          </a:prstGeom>
          <a:solidFill>
            <a:srgbClr val="1012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vision/main.py → backend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50608" y="2523744"/>
            <a:ext cx="4199839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/api/v1/vision/events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"event_type": "person_count",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"detected": true, "count": 4 }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EBED"/>
          </a:solidFill>
          <a:ln w="12700">
            <a:solidFill>
              <a:srgbClr val="F1B3B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057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HARDWARE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713232"/>
            <a:ext cx="777240" cy="777240"/>
          </a:xfrm>
          <a:prstGeom prst="ellipse">
            <a:avLst/>
          </a:prstGeom>
          <a:solidFill>
            <a:srgbClr val="E057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71323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667512"/>
            <a:ext cx="9951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— 아직 손이 없어요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 5 · gpiozero(2차 목표) · 지금은 백엔드 내장 Mock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103120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pi/ 폴더엔 .env.example뿐이에요 — pi/main.py는 아직 없어요.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54096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962656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Mock은 액추에이터 반응에 50ms 지연을 흉내내고, 압력센서는 착석 시 68~72kg, 비었을 때 0~0.4kg 범위로 값을 흔들어요.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13632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E057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822192"/>
            <a:ext cx="5715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GPIO 핀 번호는 PRD에도 [미정]으로 남아있어요 — 진짜로 아직 아무도 정하지 않았어요.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2103120"/>
            <a:ext cx="4602175" cy="1353312"/>
          </a:xfrm>
          <a:prstGeom prst="roundRect">
            <a:avLst>
              <a:gd name="adj" fmla="val 6081"/>
            </a:avLst>
          </a:prstGeom>
          <a:solidFill>
            <a:srgbClr val="1012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pi/.env.example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150608" y="2523744"/>
            <a:ext cx="4199839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BACKEND_URL=http://192.168.0.100:8000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DEVICE_API_KEY=your_secret_device_api_key_here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GPIOZERO_PIN_FACTORY=lgpio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연동의 규칙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부품이 대화하는 공용어 : REST API + JSON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API는 '식당 메뉴판'과 같아요 — 정확한 이름(URL)과 주문서 양식(JSON)만 지키면 음식이 나옵니다.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37160" cy="137160"/>
          </a:xfrm>
          <a:prstGeom prst="roundRect">
            <a:avLst>
              <a:gd name="adj" fmla="val 26667"/>
            </a:avLst>
          </a:prstGeom>
          <a:solidFill>
            <a:srgbClr val="0B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10312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X-Device-Api-Key — 다른 팀과 대소문자까지 동일해요.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49440" y="2103120"/>
            <a:ext cx="4602175" cy="1353312"/>
          </a:xfrm>
          <a:prstGeom prst="roundRect">
            <a:avLst>
              <a:gd name="adj" fmla="val 6081"/>
            </a:avLst>
          </a:prstGeom>
          <a:solidFill>
            <a:srgbClr val="10121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50608" y="2231136"/>
            <a:ext cx="4199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임산부석 시뮬레이션 요청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50608" y="2523744"/>
            <a:ext cx="4199839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/devices/sensor/pressure-simulate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"occupied": true,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F5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"pressure_val": 71.5 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6080760"/>
            <a:ext cx="10911535" cy="786384"/>
          </a:xfrm>
          <a:prstGeom prst="roundRect">
            <a:avLst>
              <a:gd name="adj" fmla="val 9302"/>
            </a:avLst>
          </a:prstGeom>
          <a:solidFill>
            <a:srgbClr val="FBECED"/>
          </a:solidFill>
          <a:ln w="12700">
            <a:solidFill>
              <a:srgbClr val="EDAAA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6172200"/>
            <a:ext cx="105091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843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솔직 고백: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 10개 중 딱 2개만 이 출입증을 검사해요. 심지어 라즈베리파이용인 GET desired-state조차 지금은 인증이 없어요 — 2차 개발에서 반드시 고쳐야 할 보안 구멍이에요.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TRIGGER RULES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수 하나가 LED 색을 정해요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4480560" cy="1072134"/>
          </a:xfrm>
          <a:prstGeom prst="roundRect">
            <a:avLst>
              <a:gd name="adj" fmla="val 5970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783080"/>
            <a:ext cx="4151376" cy="107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🙂 인원 0~2명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193792" y="2319147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65215" y="1783080"/>
            <a:ext cx="5486400" cy="1072134"/>
          </a:xfrm>
          <a:prstGeom prst="roundRect">
            <a:avLst>
              <a:gd name="adj" fmla="val 5970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29807" y="1783080"/>
            <a:ext cx="5157216" cy="107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🟢 '여유' · LED GREEN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964942"/>
            <a:ext cx="4480560" cy="1072134"/>
          </a:xfrm>
          <a:prstGeom prst="roundRect">
            <a:avLst>
              <a:gd name="adj" fmla="val 5970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964942"/>
            <a:ext cx="4151376" cy="107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😐 인원 3~5명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193792" y="3501009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65215" y="2964942"/>
            <a:ext cx="5486400" cy="1072134"/>
          </a:xfrm>
          <a:prstGeom prst="roundRect">
            <a:avLst>
              <a:gd name="adj" fmla="val 5970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29807" y="2964942"/>
            <a:ext cx="5157216" cy="107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🟠 '보통' · LED ORANGE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146804"/>
            <a:ext cx="4480560" cy="1072134"/>
          </a:xfrm>
          <a:prstGeom prst="roundRect">
            <a:avLst>
              <a:gd name="adj" fmla="val 5970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4146804"/>
            <a:ext cx="4151376" cy="107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😣 인원 6명 이상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193792" y="4682871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65215" y="4146804"/>
            <a:ext cx="5486400" cy="1072134"/>
          </a:xfrm>
          <a:prstGeom prst="roundRect">
            <a:avLst>
              <a:gd name="adj" fmla="val 5970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29807" y="4146804"/>
            <a:ext cx="5157216" cy="107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🔴 '혼잡' · LED RED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328666"/>
            <a:ext cx="4480560" cy="1072134"/>
          </a:xfrm>
          <a:prstGeom prst="roundRect">
            <a:avLst>
              <a:gd name="adj" fmla="val 5970"/>
            </a:avLst>
          </a:prstGeom>
          <a:solidFill>
            <a:srgbClr val="FCF6ED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5328666"/>
            <a:ext cx="4151376" cy="107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🤰 임산부석 압력 감지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193792" y="5864733"/>
            <a:ext cx="432511" cy="0"/>
          </a:xfrm>
          <a:prstGeom prst="line">
            <a:avLst/>
          </a:prstGeom>
          <a:noFill/>
          <a:ln w="25400">
            <a:solidFill>
              <a:srgbClr val="4B4E5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65215" y="5328666"/>
            <a:ext cx="5486400" cy="1072134"/>
          </a:xfrm>
          <a:prstGeom prst="roundRect">
            <a:avLst>
              <a:gd name="adj" fmla="val 5970"/>
            </a:avLst>
          </a:prstGeom>
          <a:solidFill>
            <a:srgbClr val="FDF2F3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29807" y="5328666"/>
            <a:ext cx="5157216" cy="107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📟 '사용 중' / '비어 있음' 실시간 갱신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MOCK ↔ 실기기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스턴트 대역 배우 — DeviceProvider 패턴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81912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대본(백엔드 코드)은 '누가' 연기하는지 몰라요 — 정해진 4개 동작만 똑같이 해내면 됩니다.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모두가 지키는 4개의 동작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get_device_status()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803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set_actuator_state()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461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read_sensor_value()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1188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 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get_all_statuses()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114800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MockDeviceProvider(가짜 배우)가 4개 장치 전부를 연기 중이에요. hardware_provider.py는 아직 없어서 DEVICE_MODE를 바꿔도 조용히 Mock으로 되돌아갑니다.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2103120"/>
            <a:ext cx="4922215" cy="2743200"/>
          </a:xfrm>
          <a:prstGeom prst="roundRect">
            <a:avLst>
              <a:gd name="adj" fmla="val 3000"/>
            </a:avLst>
          </a:prstGeom>
          <a:solidFill>
            <a:srgbClr val="1012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30568" y="2231136"/>
            <a:ext cx="4519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상태 스냅샷 (정직 버전)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30568" y="25603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LED·컨베이어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87396" y="26151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C97A0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7396" y="26151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7A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Mock 중(50ms 지연 흉내)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30568" y="30175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수 감지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87396" y="30723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1FA9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87396" y="30723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YOLOv8n 진짜 작동 중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830568" y="34747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임산부석 압력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287396" y="35295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C97A0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87396" y="35295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7A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 시뮬레이션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30568" y="39319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 코드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87396" y="39867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D8434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87396" y="39867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43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없음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830568" y="4389120"/>
            <a:ext cx="2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97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2호차 데이터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287396" y="4443984"/>
            <a:ext cx="2165775" cy="274320"/>
          </a:xfrm>
          <a:prstGeom prst="roundRect">
            <a:avLst>
              <a:gd name="adj" fmla="val 50000"/>
            </a:avLst>
          </a:prstGeom>
          <a:ln w="15875">
            <a:solidFill>
              <a:srgbClr val="D8434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87396" y="4443984"/>
            <a:ext cx="216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43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 하드코딩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미션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여러분이 이어받을 4가지 과제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476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4767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 5 실기기 전환 + GPIO 확정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0487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PRD에도 없는 GPIO 핀을 팀이 직접 정하고 pi/main.py를 새로 작성합니다.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14553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부록C · 03 핸드오버 가이드 과제 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93028" y="19476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93028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95948" y="194767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구멍부터 메우기(최우선)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393028" y="240487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 desired-state를 포함해 나머지 8개 엔드포인트에도 X-Device-Api-Key 검사를 추가합니다.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393028" y="314553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backend/iot/router.py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867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86791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임산부석 실제 압력센서 연동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32511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버튼으로 흉내내는 값을 실제 압력센서 측정값으로 교체합니다.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6577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핸드오버 가이드 과제 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0148" y="3703320"/>
            <a:ext cx="5341468" cy="1691640"/>
          </a:xfrm>
          <a:prstGeom prst="roundRect">
            <a:avLst>
              <a:gd name="adj" fmla="val 4865"/>
            </a:avLst>
          </a:prstGeom>
          <a:solidFill>
            <a:srgbClr val="F7F8FC"/>
          </a:solidFill>
          <a:ln w="12700">
            <a:solidFill>
              <a:srgbClr val="E2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93028" y="3867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B5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93028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95948" y="3867912"/>
            <a:ext cx="44727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PRD 계획 기능 선별 구현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6393028" y="4325112"/>
            <a:ext cx="4975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 검색·방향 선택·ETA 중 발표에 필요한 것만 골라 실제로 구현합니다.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393028" y="5065776"/>
            <a:ext cx="4975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4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 4장 F-05~F-08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" y="5486400"/>
            <a:ext cx="10911535" cy="786384"/>
          </a:xfrm>
          <a:prstGeom prst="roundRect">
            <a:avLst>
              <a:gd name="adj" fmla="val 9302"/>
            </a:avLst>
          </a:prstGeom>
          <a:solidFill>
            <a:srgbClr val="E9F6F1"/>
          </a:solidFill>
          <a:ln w="12700">
            <a:solidFill>
              <a:srgbClr val="9AD8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1248" y="5577840"/>
            <a:ext cx="1050919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A97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 주목할 점: </a:t>
            </a:r>
            <a:pPr indent="0" marL="0">
              <a:buNone/>
            </a:pPr>
            <a:r>
              <a:rPr lang="en-US" sz="1250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AI 채팅을 열 때마다 docs/03-2차개발-생성형AI-핸드오버-가이드.md의 '시스템 프롬프트'부터 붙여넣으세요.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13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554480" y="2560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2ECFF"/>
          </a:solidFill>
          <a:ln w="12700">
            <a:solidFill>
              <a:srgbClr val="91B7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54480" y="256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5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행선지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6751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막히면, 여기부터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1645920"/>
                <a:gridCol w="505937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먼저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필요할 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 전원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 슬라이드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부록A, 부록B, 부록F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백엔드 · DB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부록C, 부록D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프론트엔드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부록C(3·7장)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라즈베리파이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부록E → 부록C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영상인식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01, 02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436168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4E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확인한 것 — 4개 부품, 하나의 대화 규칙(REST + JSON), 그리고 아직 메워야 할 보안 구멍 하나. 이제 코드를 열어보세요.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581248" y="5897880"/>
            <a:ext cx="640080" cy="640080"/>
          </a:xfrm>
          <a:prstGeom prst="ellipse">
            <a:avLst/>
          </a:prstGeom>
          <a:solidFill>
            <a:srgbClr val="2F86E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8124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678528" y="589788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67852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775808" y="5897880"/>
            <a:ext cx="640080" cy="640080"/>
          </a:xfrm>
          <a:prstGeom prst="ellipse">
            <a:avLst/>
          </a:prstGeom>
          <a:solidFill>
            <a:srgbClr val="0F9E8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77580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📓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6873088" y="5897880"/>
            <a:ext cx="640080" cy="640080"/>
          </a:xfrm>
          <a:prstGeom prst="ellipse">
            <a:avLst/>
          </a:prstGeom>
          <a:solidFill>
            <a:srgbClr val="DB8A1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87308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7970368" y="5897880"/>
            <a:ext cx="640080" cy="640080"/>
          </a:xfrm>
          <a:prstGeom prst="ellipse">
            <a:avLst/>
          </a:prstGeom>
          <a:solidFill>
            <a:srgbClr val="E0576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970368" y="5897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2026-09-06T05:43:24Z</dcterms:created>
  <dcterms:modified xsi:type="dcterms:W3CDTF">2026-09-06T05:43:24Z</dcterms:modified>
</cp:coreProperties>
</file>